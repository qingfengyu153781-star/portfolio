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BD5E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CBD5E1"/>
                </a:solidFill>
                <a:latin typeface="Arial"/>
              </a:rPr>
              <a:t>数字经济增加值五年走势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数字经济增加值(亿元)</c:v>
                </c:pt>
              </c:strCache>
            </c:strRef>
          </c:tx>
          <c:spPr>
            <a:solidFill>
              <a:srgbClr val="00E5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CBD5E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560</c:v>
                </c:pt>
                <c:pt idx="1">
                  <c:v>630</c:v>
                </c:pt>
                <c:pt idx="2">
                  <c:v>720</c:v>
                </c:pt>
                <c:pt idx="3">
                  <c:v>800</c:v>
                </c:pt>
                <c:pt idx="4">
                  <c:v>875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CBD5E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234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1A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6217920" y="-457200"/>
            <a:ext cx="4114800" cy="4114800"/>
          </a:xfrm>
          <a:prstGeom prst="rect">
            <a:avLst/>
          </a:prstGeom>
          <a:solidFill>
            <a:srgbClr val="00E5FF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-1371600" y="2926080"/>
            <a:ext cx="4572000" cy="3657600"/>
          </a:xfrm>
          <a:prstGeom prst="rect">
            <a:avLst/>
          </a:prstGeom>
          <a:solidFill>
            <a:srgbClr val="7C3AED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300000">
            <a:off x="4114800" y="3474720"/>
            <a:ext cx="6400800" cy="2286000"/>
          </a:xfrm>
          <a:prstGeom prst="rect">
            <a:avLst/>
          </a:prstGeom>
          <a:solidFill>
            <a:srgbClr val="00E5FF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7315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12280" y="7315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40880" y="7315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269480" y="7315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498080" y="7315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726680" y="7315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955280" y="7315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183880" y="7315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0" y="9601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812280" y="9601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040880" y="9601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269480" y="9601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0" y="9601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726680" y="9601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0" y="9601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183880" y="9601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11887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812280" y="11887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040880" y="11887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269480" y="11887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0" y="11887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726680" y="11887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955280" y="11887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183880" y="11887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83680" y="14173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812280" y="14173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0" y="14173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269480" y="14173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498080" y="14173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726680" y="14173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955280" y="14173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183880" y="14173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83680" y="16459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812280" y="16459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040880" y="16459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269480" y="16459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98080" y="16459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726680" y="16459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955280" y="16459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183880" y="16459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83680" y="18745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812280" y="18745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040880" y="18745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269480" y="18745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498080" y="18745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726680" y="18745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955280" y="18745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83880" y="18745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31520" y="1005840"/>
            <a:ext cx="54864" cy="2743200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5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05840"/>
            <a:ext cx="594360" cy="594360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1097280" y="173736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温州人工智能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产业调研报告</a:t>
            </a:r>
            <a:endParaRPr lang="en-US" sz="3800" dirty="0"/>
          </a:p>
        </p:txBody>
      </p:sp>
      <p:sp>
        <p:nvSpPr>
          <p:cNvPr id="56" name="Text 53"/>
          <p:cNvSpPr/>
          <p:nvPr/>
        </p:nvSpPr>
        <p:spPr>
          <a:xfrm>
            <a:off x="114300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INDUSTRY IN WENZHOU · 2026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58" name="Shape 55"/>
          <p:cNvSpPr/>
          <p:nvPr/>
        </p:nvSpPr>
        <p:spPr>
          <a:xfrm>
            <a:off x="0" y="4343400"/>
            <a:ext cx="9144000" cy="3200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9" name="Text 56"/>
          <p:cNvSpPr/>
          <p:nvPr/>
        </p:nvSpPr>
        <p:spPr>
          <a:xfrm>
            <a:off x="822960" y="4434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课程调研</a:t>
            </a:r>
            <a:endParaRPr lang="en-US" sz="10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温州产业企业调研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3291840" y="4434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调研方向</a:t>
            </a:r>
            <a:endParaRPr lang="en-US" sz="10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人工智能与数字经济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5760720" y="4434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</a:t>
            </a:r>
            <a:endParaRPr lang="en-US" sz="10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2026年6月</a:t>
            </a:r>
            <a:endParaRPr lang="en-US" sz="1000" dirty="0"/>
          </a:p>
        </p:txBody>
      </p:sp>
      <p:pic>
        <p:nvPicPr>
          <p:cNvPr id="6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498848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1828800" y="-914400"/>
            <a:ext cx="4572000" cy="4572000"/>
          </a:xfrm>
          <a:prstGeom prst="rect">
            <a:avLst/>
          </a:prstGeom>
          <a:solidFill>
            <a:srgbClr val="7C3AED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4572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99248" y="4572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00416" y="4572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101584" y="4572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302752" y="4572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572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705088" y="4572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98080" y="658368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699248" y="658368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900416" y="658368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101584" y="658368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302752" y="658368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503920" y="658368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705088" y="658368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0" y="859536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699248" y="859536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900416" y="859536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101584" y="859536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302752" y="859536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859536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705088" y="859536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498080" y="1060704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699248" y="1060704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900416" y="1060704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101584" y="1060704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302752" y="1060704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0" y="1060704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705088" y="1060704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498080" y="1261872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699248" y="1261872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900416" y="1261872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101584" y="1261872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302752" y="1261872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503920" y="1261872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705088" y="1261872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498080" y="14630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699248" y="14630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900416" y="14630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101584" y="14630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302752" y="14630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503920" y="14630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705088" y="14630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498080" y="1664208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699248" y="1664208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900416" y="1664208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101584" y="1664208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302752" y="1664208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503920" y="1664208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705088" y="1664208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98080" y="1865376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99248" y="1865376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900416" y="1865376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101584" y="1865376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302752" y="1865376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503920" y="1865376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705088" y="1865376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731520" y="320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31520" y="822960"/>
            <a:ext cx="1371600" cy="3200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1" name="Text 59"/>
          <p:cNvSpPr/>
          <p:nvPr/>
        </p:nvSpPr>
        <p:spPr>
          <a:xfrm>
            <a:off x="731520" y="1097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3600" dirty="0"/>
          </a:p>
        </p:txBody>
      </p:sp>
      <p:sp>
        <p:nvSpPr>
          <p:cNvPr id="62" name="Shape 60"/>
          <p:cNvSpPr/>
          <p:nvPr/>
        </p:nvSpPr>
        <p:spPr>
          <a:xfrm>
            <a:off x="1554480" y="1325880"/>
            <a:ext cx="36576" cy="502920"/>
          </a:xfrm>
          <a:prstGeom prst="rect">
            <a:avLst/>
          </a:prstGeom>
          <a:solidFill>
            <a:srgbClr val="1A2342"/>
          </a:solidFill>
          <a:ln/>
        </p:spPr>
      </p:sp>
      <p:pic>
        <p:nvPicPr>
          <p:cNvPr id="6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234440"/>
            <a:ext cx="320040" cy="320040"/>
          </a:xfrm>
          <a:prstGeom prst="rect">
            <a:avLst/>
          </a:prstGeom>
        </p:spPr>
      </p:pic>
      <p:sp>
        <p:nvSpPr>
          <p:cNvPr id="64" name="Text 61"/>
          <p:cNvSpPr/>
          <p:nvPr/>
        </p:nvSpPr>
        <p:spPr>
          <a:xfrm>
            <a:off x="2194560" y="1207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调研背景与主题</a:t>
            </a:r>
            <a:endParaRPr lang="en-US" sz="1600" dirty="0"/>
          </a:p>
        </p:txBody>
      </p:sp>
      <p:sp>
        <p:nvSpPr>
          <p:cNvPr id="65" name="Text 62"/>
          <p:cNvSpPr/>
          <p:nvPr/>
        </p:nvSpPr>
        <p:spPr>
          <a:xfrm>
            <a:off x="21945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为什么是温州？为什么是AI？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731520" y="2103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3600" dirty="0"/>
          </a:p>
        </p:txBody>
      </p:sp>
      <p:sp>
        <p:nvSpPr>
          <p:cNvPr id="67" name="Shape 64"/>
          <p:cNvSpPr/>
          <p:nvPr/>
        </p:nvSpPr>
        <p:spPr>
          <a:xfrm>
            <a:off x="1554480" y="2331720"/>
            <a:ext cx="36576" cy="502920"/>
          </a:xfrm>
          <a:prstGeom prst="rect">
            <a:avLst/>
          </a:prstGeom>
          <a:solidFill>
            <a:srgbClr val="1A2342"/>
          </a:solidFill>
          <a:ln/>
        </p:spPr>
      </p:sp>
      <p:pic>
        <p:nvPicPr>
          <p:cNvPr id="6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2240280"/>
            <a:ext cx="320040" cy="320040"/>
          </a:xfrm>
          <a:prstGeom prst="rect">
            <a:avLst/>
          </a:prstGeom>
        </p:spPr>
      </p:pic>
      <p:sp>
        <p:nvSpPr>
          <p:cNvPr id="69" name="Text 65"/>
          <p:cNvSpPr/>
          <p:nvPr/>
        </p:nvSpPr>
        <p:spPr>
          <a:xfrm>
            <a:off x="2194560" y="2212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产业现状深度扫描</a:t>
            </a:r>
            <a:endParaRPr lang="en-US" sz="1600" dirty="0"/>
          </a:p>
        </p:txBody>
      </p:sp>
      <p:sp>
        <p:nvSpPr>
          <p:cNvPr id="70" name="Text 66"/>
          <p:cNvSpPr/>
          <p:nvPr/>
        </p:nvSpPr>
        <p:spPr>
          <a:xfrm>
            <a:off x="219456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数据·政策·平台·企业四维透视</a:t>
            </a:r>
            <a:endParaRPr lang="en-US" sz="1000" dirty="0"/>
          </a:p>
        </p:txBody>
      </p:sp>
      <p:sp>
        <p:nvSpPr>
          <p:cNvPr id="71" name="Text 67"/>
          <p:cNvSpPr/>
          <p:nvPr/>
        </p:nvSpPr>
        <p:spPr>
          <a:xfrm>
            <a:off x="73152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3600" dirty="0"/>
          </a:p>
        </p:txBody>
      </p:sp>
      <p:sp>
        <p:nvSpPr>
          <p:cNvPr id="72" name="Shape 68"/>
          <p:cNvSpPr/>
          <p:nvPr/>
        </p:nvSpPr>
        <p:spPr>
          <a:xfrm>
            <a:off x="1554480" y="3337560"/>
            <a:ext cx="36576" cy="502920"/>
          </a:xfrm>
          <a:prstGeom prst="rect">
            <a:avLst/>
          </a:prstGeom>
          <a:solidFill>
            <a:srgbClr val="1A2342"/>
          </a:solidFill>
          <a:ln/>
        </p:spPr>
      </p:sp>
      <p:pic>
        <p:nvPicPr>
          <p:cNvPr id="7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3246120"/>
            <a:ext cx="320040" cy="320040"/>
          </a:xfrm>
          <a:prstGeom prst="rect">
            <a:avLst/>
          </a:prstGeom>
        </p:spPr>
      </p:pic>
      <p:sp>
        <p:nvSpPr>
          <p:cNvPr id="74" name="Text 69"/>
          <p:cNvSpPr/>
          <p:nvPr/>
        </p:nvSpPr>
        <p:spPr>
          <a:xfrm>
            <a:off x="2194560" y="3218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机遇与挑战研判</a:t>
            </a:r>
            <a:endParaRPr lang="en-US" sz="1600" dirty="0"/>
          </a:p>
        </p:txBody>
      </p:sp>
      <p:sp>
        <p:nvSpPr>
          <p:cNvPr id="75" name="Text 70"/>
          <p:cNvSpPr/>
          <p:nvPr/>
        </p:nvSpPr>
        <p:spPr>
          <a:xfrm>
            <a:off x="219456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政策红利与结构性短板博弈</a:t>
            </a:r>
            <a:endParaRPr lang="en-US" sz="1000" dirty="0"/>
          </a:p>
        </p:txBody>
      </p:sp>
      <p:sp>
        <p:nvSpPr>
          <p:cNvPr id="76" name="Text 71"/>
          <p:cNvSpPr/>
          <p:nvPr/>
        </p:nvSpPr>
        <p:spPr>
          <a:xfrm>
            <a:off x="4846320" y="1097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3600" dirty="0"/>
          </a:p>
        </p:txBody>
      </p:sp>
      <p:sp>
        <p:nvSpPr>
          <p:cNvPr id="77" name="Shape 72"/>
          <p:cNvSpPr/>
          <p:nvPr/>
        </p:nvSpPr>
        <p:spPr>
          <a:xfrm>
            <a:off x="5669280" y="1325880"/>
            <a:ext cx="36576" cy="502920"/>
          </a:xfrm>
          <a:prstGeom prst="rect">
            <a:avLst/>
          </a:prstGeom>
          <a:solidFill>
            <a:srgbClr val="1A2342"/>
          </a:solidFill>
          <a:ln/>
        </p:spPr>
      </p:sp>
      <p:pic>
        <p:nvPicPr>
          <p:cNvPr id="7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234440"/>
            <a:ext cx="320040" cy="320040"/>
          </a:xfrm>
          <a:prstGeom prst="rect">
            <a:avLst/>
          </a:prstGeom>
        </p:spPr>
      </p:pic>
      <p:sp>
        <p:nvSpPr>
          <p:cNvPr id="79" name="Text 73"/>
          <p:cNvSpPr/>
          <p:nvPr/>
        </p:nvSpPr>
        <p:spPr>
          <a:xfrm>
            <a:off x="6309360" y="12070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代表性企业画像</a:t>
            </a:r>
            <a:endParaRPr lang="en-US" sz="1600" dirty="0"/>
          </a:p>
        </p:txBody>
      </p:sp>
      <p:sp>
        <p:nvSpPr>
          <p:cNvPr id="80" name="Text 74"/>
          <p:cNvSpPr/>
          <p:nvPr/>
        </p:nvSpPr>
        <p:spPr>
          <a:xfrm>
            <a:off x="63093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从制造巨头到AI新锐的转型图谱</a:t>
            </a:r>
            <a:endParaRPr lang="en-US" sz="1000" dirty="0"/>
          </a:p>
        </p:txBody>
      </p:sp>
      <p:sp>
        <p:nvSpPr>
          <p:cNvPr id="81" name="Text 75"/>
          <p:cNvSpPr/>
          <p:nvPr/>
        </p:nvSpPr>
        <p:spPr>
          <a:xfrm>
            <a:off x="4846320" y="21031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3600" dirty="0"/>
          </a:p>
        </p:txBody>
      </p:sp>
      <p:sp>
        <p:nvSpPr>
          <p:cNvPr id="82" name="Shape 76"/>
          <p:cNvSpPr/>
          <p:nvPr/>
        </p:nvSpPr>
        <p:spPr>
          <a:xfrm>
            <a:off x="5669280" y="2331720"/>
            <a:ext cx="36576" cy="502920"/>
          </a:xfrm>
          <a:prstGeom prst="rect">
            <a:avLst/>
          </a:prstGeom>
          <a:solidFill>
            <a:srgbClr val="1A2342"/>
          </a:solidFill>
          <a:ln/>
        </p:spPr>
      </p:sp>
      <p:pic>
        <p:nvPicPr>
          <p:cNvPr id="8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2240280"/>
            <a:ext cx="320040" cy="320040"/>
          </a:xfrm>
          <a:prstGeom prst="rect">
            <a:avLst/>
          </a:prstGeom>
        </p:spPr>
      </p:pic>
      <p:sp>
        <p:nvSpPr>
          <p:cNvPr id="84" name="Text 77"/>
          <p:cNvSpPr/>
          <p:nvPr/>
        </p:nvSpPr>
        <p:spPr>
          <a:xfrm>
            <a:off x="6309360" y="2212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就创业前景地图</a:t>
            </a:r>
            <a:endParaRPr lang="en-US" sz="1600" dirty="0"/>
          </a:p>
        </p:txBody>
      </p:sp>
      <p:sp>
        <p:nvSpPr>
          <p:cNvPr id="85" name="Text 78"/>
          <p:cNvSpPr/>
          <p:nvPr/>
        </p:nvSpPr>
        <p:spPr>
          <a:xfrm>
            <a:off x="630936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岗位、薪资、赛道、入行路径</a:t>
            </a:r>
            <a:endParaRPr lang="en-US" sz="1000" dirty="0"/>
          </a:p>
        </p:txBody>
      </p:sp>
      <p:sp>
        <p:nvSpPr>
          <p:cNvPr id="86" name="Text 79"/>
          <p:cNvSpPr/>
          <p:nvPr/>
        </p:nvSpPr>
        <p:spPr>
          <a:xfrm>
            <a:off x="4846320" y="3108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</a:t>
            </a:r>
            <a:endParaRPr lang="en-US" sz="3600" dirty="0"/>
          </a:p>
        </p:txBody>
      </p:sp>
      <p:sp>
        <p:nvSpPr>
          <p:cNvPr id="87" name="Shape 80"/>
          <p:cNvSpPr/>
          <p:nvPr/>
        </p:nvSpPr>
        <p:spPr>
          <a:xfrm>
            <a:off x="5669280" y="3337560"/>
            <a:ext cx="36576" cy="502920"/>
          </a:xfrm>
          <a:prstGeom prst="rect">
            <a:avLst/>
          </a:prstGeom>
          <a:solidFill>
            <a:srgbClr val="1A2342"/>
          </a:solidFill>
          <a:ln/>
        </p:spPr>
      </p:sp>
      <p:pic>
        <p:nvPicPr>
          <p:cNvPr id="8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3246120"/>
            <a:ext cx="320040" cy="320040"/>
          </a:xfrm>
          <a:prstGeom prst="rect">
            <a:avLst/>
          </a:prstGeom>
        </p:spPr>
      </p:pic>
      <p:sp>
        <p:nvSpPr>
          <p:cNvPr id="89" name="Text 81"/>
          <p:cNvSpPr/>
          <p:nvPr/>
        </p:nvSpPr>
        <p:spPr>
          <a:xfrm>
            <a:off x="6309360" y="3218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团队总结与分工</a:t>
            </a:r>
            <a:endParaRPr lang="en-US" sz="1600" dirty="0"/>
          </a:p>
        </p:txBody>
      </p:sp>
      <p:sp>
        <p:nvSpPr>
          <p:cNvPr id="90" name="Text 82"/>
          <p:cNvSpPr/>
          <p:nvPr/>
        </p:nvSpPr>
        <p:spPr>
          <a:xfrm>
            <a:off x="630936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调研方法·核心发现·成员贡献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2743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43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2743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2743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5943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5943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5943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5943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5943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144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94360" y="9144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9144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234440" y="9144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554480" y="9144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12344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" y="12344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12344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234440" y="12344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54480" y="12344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-480000">
            <a:off x="6858000" y="-1371600"/>
            <a:ext cx="4572000" cy="7315200"/>
          </a:xfrm>
          <a:prstGeom prst="rect">
            <a:avLst/>
          </a:prstGeom>
          <a:solidFill>
            <a:srgbClr val="00E5FF">
              <a:alpha val="3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28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4630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调研背景与主题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40080" y="868680"/>
            <a:ext cx="1828800" cy="27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温州为何押注AI？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160020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2025年温州GDP达</a:t>
            </a:r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1.08万亿元</a:t>
            </a:r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，成为浙江省继杭州、宁波后第三座万亿城市。但万亿背后有隐忧：传统制造业占GDP比重超40%，劳动密集型产业面临东南亚竞争与人口红利消退的双重挤压。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城市决策层的判断是：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"温州不能等到传统产业衰退再转型，必须用AI重构制造业基因。"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2025年7月，温州挂牌成立浙江省首个设区市人工智能局——这是杭州、宁波都没有做的。2026年初"新年第一会"将AI列为八大突破领域之首，"十五五"规划明确提出建设"人工智能创新发展先行市"。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212080" y="1188720"/>
            <a:ext cx="3474720" cy="374904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29" name="Shape 27"/>
          <p:cNvSpPr/>
          <p:nvPr/>
        </p:nvSpPr>
        <p:spPr>
          <a:xfrm>
            <a:off x="5212080" y="1188720"/>
            <a:ext cx="347472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544068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政策里程碑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532120" y="1920240"/>
            <a:ext cx="146304" cy="146304"/>
          </a:xfrm>
          <a:prstGeom prst="oval">
            <a:avLst/>
          </a:prstGeom>
          <a:solidFill>
            <a:srgbClr val="00E5FF"/>
          </a:solidFill>
          <a:ln/>
        </p:spPr>
      </p:sp>
      <p:sp>
        <p:nvSpPr>
          <p:cNvPr id="32" name="Shape 30"/>
          <p:cNvSpPr/>
          <p:nvPr/>
        </p:nvSpPr>
        <p:spPr>
          <a:xfrm>
            <a:off x="5596128" y="2093976"/>
            <a:ext cx="18288" cy="320040"/>
          </a:xfrm>
          <a:prstGeom prst="rect">
            <a:avLst/>
          </a:prstGeom>
          <a:solidFill>
            <a:srgbClr val="1A2342"/>
          </a:solidFill>
          <a:ln/>
        </p:spPr>
      </p:sp>
      <p:sp>
        <p:nvSpPr>
          <p:cNvPr id="33" name="Text 31"/>
          <p:cNvSpPr/>
          <p:nvPr/>
        </p:nvSpPr>
        <p:spPr>
          <a:xfrm>
            <a:off x="5806440" y="18745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06440" y="20756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温州数字经济"一号工程"启动，当年增加值560亿元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32120" y="2423160"/>
            <a:ext cx="146304" cy="146304"/>
          </a:xfrm>
          <a:prstGeom prst="oval">
            <a:avLst/>
          </a:prstGeom>
          <a:solidFill>
            <a:srgbClr val="00E5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596128" y="2596896"/>
            <a:ext cx="18288" cy="320040"/>
          </a:xfrm>
          <a:prstGeom prst="rect">
            <a:avLst/>
          </a:prstGeom>
          <a:solidFill>
            <a:srgbClr val="1A2342"/>
          </a:solidFill>
          <a:ln/>
        </p:spPr>
      </p:sp>
      <p:sp>
        <p:nvSpPr>
          <p:cNvPr id="37" name="Text 35"/>
          <p:cNvSpPr/>
          <p:nvPr/>
        </p:nvSpPr>
        <p:spPr>
          <a:xfrm>
            <a:off x="5806440" y="23774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06440" y="257860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中国数安港开园，首批200家企业签约入驻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532120" y="2926080"/>
            <a:ext cx="146304" cy="146304"/>
          </a:xfrm>
          <a:prstGeom prst="oval">
            <a:avLst/>
          </a:prstGeom>
          <a:solidFill>
            <a:srgbClr val="00E5FF"/>
          </a:solidFill>
          <a:ln/>
        </p:spPr>
      </p:sp>
      <p:sp>
        <p:nvSpPr>
          <p:cNvPr id="40" name="Shape 38"/>
          <p:cNvSpPr/>
          <p:nvPr/>
        </p:nvSpPr>
        <p:spPr>
          <a:xfrm>
            <a:off x="5596128" y="3099816"/>
            <a:ext cx="18288" cy="320040"/>
          </a:xfrm>
          <a:prstGeom prst="rect">
            <a:avLst/>
          </a:prstGeom>
          <a:solidFill>
            <a:srgbClr val="1A2342"/>
          </a:solidFill>
          <a:ln/>
        </p:spPr>
      </p:sp>
      <p:sp>
        <p:nvSpPr>
          <p:cNvPr id="41" name="Text 39"/>
          <p:cNvSpPr/>
          <p:nvPr/>
        </p:nvSpPr>
        <p:spPr>
          <a:xfrm>
            <a:off x="5806440" y="28803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2025.07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06440" y="30815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浙江省首个设区市人工智能局在温州挂牌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532120" y="3429000"/>
            <a:ext cx="146304" cy="146304"/>
          </a:xfrm>
          <a:prstGeom prst="oval">
            <a:avLst/>
          </a:prstGeom>
          <a:solidFill>
            <a:srgbClr val="00E5FF"/>
          </a:solidFill>
          <a:ln/>
        </p:spPr>
      </p:sp>
      <p:sp>
        <p:nvSpPr>
          <p:cNvPr id="44" name="Shape 42"/>
          <p:cNvSpPr/>
          <p:nvPr/>
        </p:nvSpPr>
        <p:spPr>
          <a:xfrm>
            <a:off x="5596128" y="3602736"/>
            <a:ext cx="18288" cy="320040"/>
          </a:xfrm>
          <a:prstGeom prst="rect">
            <a:avLst/>
          </a:prstGeom>
          <a:solidFill>
            <a:srgbClr val="1A2342"/>
          </a:solidFill>
          <a:ln/>
        </p:spPr>
      </p:sp>
      <p:sp>
        <p:nvSpPr>
          <p:cNvPr id="45" name="Text 43"/>
          <p:cNvSpPr/>
          <p:nvPr/>
        </p:nvSpPr>
        <p:spPr>
          <a:xfrm>
            <a:off x="5806440" y="33832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2025.12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06440" y="35844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温州GDP突破万亿，数字经济增加值达875亿元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532120" y="3931920"/>
            <a:ext cx="146304" cy="146304"/>
          </a:xfrm>
          <a:prstGeom prst="oval">
            <a:avLst/>
          </a:prstGeom>
          <a:solidFill>
            <a:srgbClr val="00E5FF"/>
          </a:solidFill>
          <a:ln/>
        </p:spPr>
      </p:sp>
      <p:sp>
        <p:nvSpPr>
          <p:cNvPr id="48" name="Shape 46"/>
          <p:cNvSpPr/>
          <p:nvPr/>
        </p:nvSpPr>
        <p:spPr>
          <a:xfrm>
            <a:off x="5596128" y="4105656"/>
            <a:ext cx="18288" cy="320040"/>
          </a:xfrm>
          <a:prstGeom prst="rect">
            <a:avLst/>
          </a:prstGeom>
          <a:solidFill>
            <a:srgbClr val="1A2342"/>
          </a:solidFill>
          <a:ln/>
        </p:spPr>
      </p:sp>
      <p:sp>
        <p:nvSpPr>
          <p:cNvPr id="49" name="Text 47"/>
          <p:cNvSpPr/>
          <p:nvPr/>
        </p:nvSpPr>
        <p:spPr>
          <a:xfrm>
            <a:off x="5806440" y="38862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2026.01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06440" y="40873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"新年第一会"：AI列八大突破领域之首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532120" y="4434840"/>
            <a:ext cx="146304" cy="146304"/>
          </a:xfrm>
          <a:prstGeom prst="oval">
            <a:avLst/>
          </a:prstGeom>
          <a:solidFill>
            <a:srgbClr val="00E5FF"/>
          </a:solidFill>
          <a:ln/>
        </p:spPr>
      </p:sp>
      <p:sp>
        <p:nvSpPr>
          <p:cNvPr id="52" name="Text 50"/>
          <p:cNvSpPr/>
          <p:nvPr/>
        </p:nvSpPr>
        <p:spPr>
          <a:xfrm>
            <a:off x="5806440" y="43891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2026.03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806440" y="45902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发布12大AI应用场景，规划600万m²产业空间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1828800" y="-1828800"/>
            <a:ext cx="5486400" cy="5486400"/>
          </a:xfrm>
          <a:prstGeom prst="rect">
            <a:avLst/>
          </a:prstGeom>
          <a:solidFill>
            <a:srgbClr val="00E5FF">
              <a:alpha val="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43891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43891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138160" y="43891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321040" y="43891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503920" y="43891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43891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45720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955280" y="45720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138160" y="45720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321040" y="45720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45720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0" y="45720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0" y="475488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955280" y="475488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138160" y="475488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475488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0" y="475488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0" y="475488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49377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955280" y="49377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138160" y="49377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321040" y="49377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03920" y="49377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0" y="49377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28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14630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产业现状 · 数据仪表盘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40080" y="868680"/>
            <a:ext cx="1828800" cy="27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1188720"/>
            <a:ext cx="1572768" cy="164592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1188720"/>
            <a:ext cx="1572768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13258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875亿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57200" y="18745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数字经济增加值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214884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| 年增12.4%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76272" y="1188720"/>
            <a:ext cx="1572768" cy="164592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36" name="Shape 34"/>
          <p:cNvSpPr/>
          <p:nvPr/>
        </p:nvSpPr>
        <p:spPr>
          <a:xfrm>
            <a:off x="2176272" y="1188720"/>
            <a:ext cx="1572768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2176272" y="13258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136亿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2176272" y="18745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规上AI核心企业营收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176272" y="214884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 +19.6%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895344" y="1188720"/>
            <a:ext cx="1572768" cy="164592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41" name="Shape 39"/>
          <p:cNvSpPr/>
          <p:nvPr/>
        </p:nvSpPr>
        <p:spPr>
          <a:xfrm>
            <a:off x="3895344" y="1188720"/>
            <a:ext cx="1572768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3895344" y="13258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558家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3895344" y="18745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数字经济高新企业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895344" y="214884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+ 677家科小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614416" y="1188720"/>
            <a:ext cx="1572768" cy="164592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46" name="Shape 44"/>
          <p:cNvSpPr/>
          <p:nvPr/>
        </p:nvSpPr>
        <p:spPr>
          <a:xfrm>
            <a:off x="5614416" y="1188720"/>
            <a:ext cx="1572768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7" name="Text 45"/>
          <p:cNvSpPr/>
          <p:nvPr/>
        </p:nvSpPr>
        <p:spPr>
          <a:xfrm>
            <a:off x="5614416" y="13258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全国20强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5614416" y="18745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数字百强城市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614416" y="214884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连续三年上升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333488" y="1188720"/>
            <a:ext cx="1572768" cy="164592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51" name="Shape 49"/>
          <p:cNvSpPr/>
          <p:nvPr/>
        </p:nvSpPr>
        <p:spPr>
          <a:xfrm>
            <a:off x="7333488" y="1188720"/>
            <a:ext cx="1572768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2" name="Text 50"/>
          <p:cNvSpPr/>
          <p:nvPr/>
        </p:nvSpPr>
        <p:spPr>
          <a:xfrm>
            <a:off x="7333488" y="13258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4899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1200+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7333488" y="18745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数安港入驻企业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333488" y="2148840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空间201万m²</a:t>
            </a:r>
            <a:endParaRPr lang="en-US" sz="850" dirty="0"/>
          </a:p>
        </p:txBody>
      </p:sp>
      <p:graphicFrame>
        <p:nvGraphicFramePr>
          <p:cNvPr id="55" name="Chart 0" descr=""/>
          <p:cNvGraphicFramePr/>
          <p:nvPr/>
        </p:nvGraphicFramePr>
        <p:xfrm>
          <a:off x="457200" y="3108960"/>
          <a:ext cx="384048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6" name="Shape 53"/>
          <p:cNvSpPr/>
          <p:nvPr/>
        </p:nvSpPr>
        <p:spPr>
          <a:xfrm>
            <a:off x="4572000" y="3108960"/>
            <a:ext cx="4114800" cy="187452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57" name="Shape 54"/>
          <p:cNvSpPr/>
          <p:nvPr/>
        </p:nvSpPr>
        <p:spPr>
          <a:xfrm>
            <a:off x="4572000" y="3108960"/>
            <a:ext cx="45720" cy="18745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8" name="Text 55"/>
          <p:cNvSpPr/>
          <p:nvPr/>
        </p:nvSpPr>
        <p:spPr>
          <a:xfrm>
            <a:off x="484632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结构分析</a:t>
            </a:r>
            <a:endParaRPr lang="en-US" sz="1300" dirty="0"/>
          </a:p>
        </p:txBody>
      </p:sp>
      <p:sp>
        <p:nvSpPr>
          <p:cNvPr id="59" name="Text 56"/>
          <p:cNvSpPr/>
          <p:nvPr/>
        </p:nvSpPr>
        <p:spPr>
          <a:xfrm>
            <a:off x="4846320" y="34747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数字经济占GDP比重：</a:t>
            </a:r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（杭州28.3%、宁波12.5%）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AI核心产业营收136亿在全省占比约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，杭州占68%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数改企业4820家中，60%集中在电气、鞋革、泵阀三大产业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核心优势不在AI技术，在"AI+制造"的海量应用场景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0">
            <a:off x="7315200" y="1828800"/>
            <a:ext cx="4572000" cy="5486400"/>
          </a:xfrm>
          <a:prstGeom prst="rect">
            <a:avLst/>
          </a:prstGeom>
          <a:solidFill>
            <a:srgbClr val="7C3AED">
              <a:alpha val="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核心平台载体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828800" cy="27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4114800" cy="374904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中国（温州）数安港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25880" y="17830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全国数据要素市场化配置改革标杆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31520" y="214884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物理载体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总面积201万m²，分三期建设。一期核心区已满租，二期2025年底交付。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企业生态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入驻企业1200+家，其中中国电子、每日互动、安恒信息等头部企业已设立区域总部或研发中心。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数据资产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上架数据产品750+个，覆盖交通、金融、医疗、城市治理领域。2026年率先推行数据要素"四证同办"（登记证、交易证、备案证、评估证）。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国家试点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全国唯一全面承接6项国家数据基础设施建设试点的城市：数场、可信数据空间、隐私保护计算、区块链、数据元件、数联网。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46320" y="1188720"/>
            <a:ext cx="3840480" cy="182880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13" name="Shape 10"/>
          <p:cNvSpPr/>
          <p:nvPr/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鹿城"中国智能谷"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120640" y="182880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AI相关企业近600家，涵盖芯片设计、算法研发、应用落地全链条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入选省级未来产业先导区培育名单，获评省级数字经济产业园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中科先进技术温州研究院在高阶智能X射线衍射仪领域实现关键技术突破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846320" y="3200400"/>
            <a:ext cx="3840480" cy="173736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18" name="Shape 14"/>
          <p:cNvSpPr/>
          <p:nvPr/>
        </p:nvSpPr>
        <p:spPr>
          <a:xfrm>
            <a:off x="4846320" y="3200400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38328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62356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"一港五谷"科创集群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120640" y="379476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中国数安港 → 数据要素市场化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中国智能谷 → AI产业孵化与加速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云软件谷 → 工业软件与SaaS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中国眼谷 → 眼健康+AI诊断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中国基因药谷 → 生物医药AI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国际云软件谷 → 跨境电商AI工具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1148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41148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80160" y="41148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41148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41148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103120" y="41148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377440" y="41148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651760" y="41148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926080" y="41148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0" y="41148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0" y="41148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43891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3891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05840" y="43891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280160" y="43891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554480" y="43891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" y="43891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103120" y="43891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377440" y="43891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651760" y="43891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926080" y="43891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0" y="43891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74720" y="43891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6634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46634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005840" y="46634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80160" y="46634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554480" y="46634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828800" y="46634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103120" y="46634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377440" y="46634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651760" y="46634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926080" y="46634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200400" y="46634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74720" y="46634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49377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49377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05840" y="49377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280160" y="49377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554480" y="49377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828800" y="49377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103120" y="49377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377440" y="49377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2651760" y="49377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2926080" y="49377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3200400" y="49377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3474720" y="49377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228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3200" dirty="0"/>
          </a:p>
        </p:txBody>
      </p:sp>
      <p:sp>
        <p:nvSpPr>
          <p:cNvPr id="51" name="Text 49"/>
          <p:cNvSpPr/>
          <p:nvPr/>
        </p:nvSpPr>
        <p:spPr>
          <a:xfrm>
            <a:off x="14630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机遇研判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640080" y="868680"/>
            <a:ext cx="182880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3" name="Shape 51"/>
          <p:cNvSpPr/>
          <p:nvPr/>
        </p:nvSpPr>
        <p:spPr>
          <a:xfrm>
            <a:off x="457200" y="1188720"/>
            <a:ext cx="3474720" cy="374904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54" name="Shape 52"/>
          <p:cNvSpPr/>
          <p:nvPr/>
        </p:nvSpPr>
        <p:spPr>
          <a:xfrm>
            <a:off x="457200" y="1188720"/>
            <a:ext cx="34747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73152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4大机遇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31520" y="182880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温州AI产业的机遇不在于"从0到1创造AI技术"，而在于"将成熟AI技术植入万亿级传统产业肌体"。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核心逻辑：</a:t>
            </a:r>
            <a:endParaRPr lang="en-US" sz="110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全国唯一的数据要素"大满贯"试点 → 训练数据壁垒 → 垂直行业AI模型 → 传统产业效率跃升 → 数据回流优化模型 → 飞轮效应。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50" i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对比杭州：杭州赢在AI技术层（阿里云、DeepSeek、通义千问），温州应赢在AI应用层（电气AI质检、鞋革AI设计、泵阀AI预测性维护）。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206240" y="1188720"/>
            <a:ext cx="2240280" cy="128016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58" name="Shape 56"/>
          <p:cNvSpPr/>
          <p:nvPr/>
        </p:nvSpPr>
        <p:spPr>
          <a:xfrm>
            <a:off x="4206240" y="1188720"/>
            <a:ext cx="45720" cy="128016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5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325880"/>
            <a:ext cx="292608" cy="292608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4754880" y="1280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政策力度空前</a:t>
            </a:r>
            <a:endParaRPr lang="en-US" sz="1300" dirty="0"/>
          </a:p>
        </p:txBody>
      </p:sp>
      <p:sp>
        <p:nvSpPr>
          <p:cNvPr id="61" name="Text 58"/>
          <p:cNvSpPr/>
          <p:nvPr/>
        </p:nvSpPr>
        <p:spPr>
          <a:xfrm>
            <a:off x="4754880" y="15361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制度红利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4389120" y="17373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浙江省首个AI局+6项国家试点独占+"新年第一会"首位战略。2026年市级AI专项预算同比增长超200%。12大应用场景清单按季度滚动发布。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6675120" y="1188720"/>
            <a:ext cx="2240280" cy="128016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64" name="Shape 61"/>
          <p:cNvSpPr/>
          <p:nvPr/>
        </p:nvSpPr>
        <p:spPr>
          <a:xfrm>
            <a:off x="6675120" y="1188720"/>
            <a:ext cx="45720" cy="1280160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6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25880"/>
            <a:ext cx="292608" cy="292608"/>
          </a:xfrm>
          <a:prstGeom prst="rect">
            <a:avLst/>
          </a:prstGeom>
        </p:spPr>
      </p:pic>
      <p:sp>
        <p:nvSpPr>
          <p:cNvPr id="66" name="Text 62"/>
          <p:cNvSpPr/>
          <p:nvPr/>
        </p:nvSpPr>
        <p:spPr>
          <a:xfrm>
            <a:off x="7223760" y="1280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场景资源富集</a:t>
            </a:r>
            <a:endParaRPr lang="en-US" sz="1300" dirty="0"/>
          </a:p>
        </p:txBody>
      </p:sp>
      <p:sp>
        <p:nvSpPr>
          <p:cNvPr id="67" name="Text 63"/>
          <p:cNvSpPr/>
          <p:nvPr/>
        </p:nvSpPr>
        <p:spPr>
          <a:xfrm>
            <a:off x="7223760" y="15361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产业纵深</a:t>
            </a:r>
            <a:endParaRPr lang="en-US" sz="750" dirty="0"/>
          </a:p>
        </p:txBody>
      </p:sp>
      <p:sp>
        <p:nvSpPr>
          <p:cNvPr id="68" name="Text 64"/>
          <p:cNvSpPr/>
          <p:nvPr/>
        </p:nvSpPr>
        <p:spPr>
          <a:xfrm>
            <a:off x="6858000" y="173736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4820家数改企业+170家智能工厂构成AI落地的"天然试验场"。仅电气行业就有超3000条产线待智能化改造，市场规模超百亿。</a:t>
            </a:r>
            <a:endParaRPr lang="en-US" sz="850" dirty="0"/>
          </a:p>
        </p:txBody>
      </p:sp>
      <p:sp>
        <p:nvSpPr>
          <p:cNvPr id="69" name="Shape 65"/>
          <p:cNvSpPr/>
          <p:nvPr/>
        </p:nvSpPr>
        <p:spPr>
          <a:xfrm>
            <a:off x="4206240" y="2606040"/>
            <a:ext cx="2240280" cy="128016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70" name="Shape 66"/>
          <p:cNvSpPr/>
          <p:nvPr/>
        </p:nvSpPr>
        <p:spPr>
          <a:xfrm>
            <a:off x="4206240" y="2606040"/>
            <a:ext cx="45720" cy="128016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7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743200"/>
            <a:ext cx="292608" cy="292608"/>
          </a:xfrm>
          <a:prstGeom prst="rect">
            <a:avLst/>
          </a:prstGeom>
        </p:spPr>
      </p:pic>
      <p:sp>
        <p:nvSpPr>
          <p:cNvPr id="72" name="Text 67"/>
          <p:cNvSpPr/>
          <p:nvPr/>
        </p:nvSpPr>
        <p:spPr>
          <a:xfrm>
            <a:off x="475488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数据壁垒初现</a:t>
            </a:r>
            <a:endParaRPr lang="en-US" sz="1300" dirty="0"/>
          </a:p>
        </p:txBody>
      </p:sp>
      <p:sp>
        <p:nvSpPr>
          <p:cNvPr id="73" name="Text 68"/>
          <p:cNvSpPr/>
          <p:nvPr/>
        </p:nvSpPr>
        <p:spPr>
          <a:xfrm>
            <a:off x="4754880" y="2953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要素优势</a:t>
            </a:r>
            <a:endParaRPr lang="en-US" sz="750" dirty="0"/>
          </a:p>
        </p:txBody>
      </p:sp>
      <p:sp>
        <p:nvSpPr>
          <p:cNvPr id="74" name="Text 69"/>
          <p:cNvSpPr/>
          <p:nvPr/>
        </p:nvSpPr>
        <p:spPr>
          <a:xfrm>
            <a:off x="4389120" y="31546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750+数据产品+6项国家试点形成独特的数据要素生态。工业数据不出温州即可合规流通——这是AI训练时代的稀缺资源。</a:t>
            </a:r>
            <a:endParaRPr lang="en-US" sz="850" dirty="0"/>
          </a:p>
        </p:txBody>
      </p:sp>
      <p:sp>
        <p:nvSpPr>
          <p:cNvPr id="75" name="Shape 70"/>
          <p:cNvSpPr/>
          <p:nvPr/>
        </p:nvSpPr>
        <p:spPr>
          <a:xfrm>
            <a:off x="6675120" y="2606040"/>
            <a:ext cx="2240280" cy="128016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76" name="Shape 71"/>
          <p:cNvSpPr/>
          <p:nvPr/>
        </p:nvSpPr>
        <p:spPr>
          <a:xfrm>
            <a:off x="6675120" y="2606040"/>
            <a:ext cx="45720" cy="128016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7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743200"/>
            <a:ext cx="292608" cy="292608"/>
          </a:xfrm>
          <a:prstGeom prst="rect">
            <a:avLst/>
          </a:prstGeom>
        </p:spPr>
      </p:pic>
      <p:sp>
        <p:nvSpPr>
          <p:cNvPr id="78" name="Text 72"/>
          <p:cNvSpPr/>
          <p:nvPr/>
        </p:nvSpPr>
        <p:spPr>
          <a:xfrm>
            <a:off x="7223760" y="2697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区位战略价值</a:t>
            </a:r>
            <a:endParaRPr lang="en-US" sz="1300" dirty="0"/>
          </a:p>
        </p:txBody>
      </p:sp>
      <p:sp>
        <p:nvSpPr>
          <p:cNvPr id="79" name="Text 73"/>
          <p:cNvSpPr/>
          <p:nvPr/>
        </p:nvSpPr>
        <p:spPr>
          <a:xfrm>
            <a:off x="7223760" y="2953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地缘红利</a:t>
            </a:r>
            <a:endParaRPr lang="en-US" sz="750" dirty="0"/>
          </a:p>
        </p:txBody>
      </p:sp>
      <p:sp>
        <p:nvSpPr>
          <p:cNvPr id="80" name="Text 74"/>
          <p:cNvSpPr/>
          <p:nvPr/>
        </p:nvSpPr>
        <p:spPr>
          <a:xfrm>
            <a:off x="6858000" y="315468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长三角南翼节点+68万海外华侨网络。AI+跨境电商、AI+侨贸是温州独有的赛道组合，杭州、宁波无法复制。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600000">
            <a:off x="-914400" y="2743200"/>
            <a:ext cx="3657600" cy="4572000"/>
          </a:xfrm>
          <a:prstGeom prst="rect">
            <a:avLst/>
          </a:prstGeom>
          <a:solidFill>
            <a:srgbClr val="EF4444">
              <a:alpha val="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挑战分析 · 五重瓶颈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828800" cy="274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8229600" cy="658368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43000"/>
            <a:ext cx="54864" cy="658368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71016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场景碎片化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108960" y="12161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严重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108960" y="1234440"/>
            <a:ext cx="640080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AI应用集中在智能客服、视觉检测等"点状"环节，单点效率提升但未打通"研发→生产→质检→物流"全链路。全省25家AI标杆温州仅1家。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400800" y="1234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根因：企业"不敢、不会、不愿"投AI。中小企业占97%，缺乏AI预算和技术判断能力。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57200" y="1892808"/>
            <a:ext cx="8229600" cy="658368"/>
          </a:xfrm>
          <a:prstGeom prst="rect">
            <a:avLst/>
          </a:prstGeom>
          <a:solidFill>
            <a:srgbClr val="131A33">
              <a:alpha val="7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" y="1892808"/>
            <a:ext cx="54864" cy="658368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20824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43000" y="1938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人才剪刀差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108960" y="1965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严重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3108960" y="1984248"/>
            <a:ext cx="640080" cy="182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6"/>
          <p:cNvSpPr/>
          <p:nvPr/>
        </p:nvSpPr>
        <p:spPr>
          <a:xfrm>
            <a:off x="1143000" y="22128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温州高校AI相关专业年毕业生不足500人，而杭州超8000人。高端人才更倾向杭州/上海——温州AI岗位平均薪资仅为杭州的65%。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6400800" y="19842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结构性矛盾：需求端企业急招AI人才→供给端本地培养不足→外地人才不愿来→薪资上不去→更招不到人。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457200" y="2642616"/>
            <a:ext cx="8229600" cy="658368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23" name="Shape 19"/>
          <p:cNvSpPr/>
          <p:nvPr/>
        </p:nvSpPr>
        <p:spPr>
          <a:xfrm>
            <a:off x="457200" y="2642616"/>
            <a:ext cx="54864" cy="658368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70632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143000" y="26883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领军企业缺位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3108960" y="2715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中等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3108960" y="2734056"/>
            <a:ext cx="64008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3"/>
          <p:cNvSpPr/>
          <p:nvPr/>
        </p:nvSpPr>
        <p:spPr>
          <a:xfrm>
            <a:off x="1143000" y="296265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杭州有DeepSeek、阿里云、海康威视等百亿级AI企业。温州最大的AI企业年营收不到5亿。缺乏龙头企业=缺技术外溢=缺人才吸引力=缺产业号召力。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6400800" y="273405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路径依赖：温州企业家擅长"快进快出"的贸易思维，对AI这种长周期、高投入、回报不确定的技术投资天然谨慎。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457200" y="3392424"/>
            <a:ext cx="8229600" cy="658368"/>
          </a:xfrm>
          <a:prstGeom prst="rect">
            <a:avLst/>
          </a:prstGeom>
          <a:solidFill>
            <a:srgbClr val="131A33">
              <a:alpha val="70000"/>
            </a:srgbClr>
          </a:solidFill>
          <a:ln/>
        </p:spPr>
      </p:sp>
      <p:sp>
        <p:nvSpPr>
          <p:cNvPr id="31" name="Shape 26"/>
          <p:cNvSpPr/>
          <p:nvPr/>
        </p:nvSpPr>
        <p:spPr>
          <a:xfrm>
            <a:off x="457200" y="3392424"/>
            <a:ext cx="54864" cy="658368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520440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143000" y="34381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算力基础设施薄弱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3108960" y="346557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中等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3108960" y="3483864"/>
            <a:ext cx="64008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6" name="Text 30"/>
          <p:cNvSpPr/>
          <p:nvPr/>
        </p:nvSpPr>
        <p:spPr>
          <a:xfrm>
            <a:off x="1143000" y="371246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温州当前数据中心总算力约200 PFLOPS，杭州超3000 PFLOPS。AI大模型训练需要大量算力，本地算力不足导致企业"上云到杭州"，数据外流。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6400800" y="348386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2026年已规划建设东南沿海算力枢纽，但建设周期2-3年，短期内仍需依赖外部算力。</a:t>
            </a:r>
            <a:endParaRPr lang="en-US" sz="800" dirty="0"/>
          </a:p>
        </p:txBody>
      </p:sp>
      <p:sp>
        <p:nvSpPr>
          <p:cNvPr id="38" name="Shape 32"/>
          <p:cNvSpPr/>
          <p:nvPr/>
        </p:nvSpPr>
        <p:spPr>
          <a:xfrm>
            <a:off x="457200" y="4142232"/>
            <a:ext cx="8229600" cy="658368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39" name="Shape 33"/>
          <p:cNvSpPr/>
          <p:nvPr/>
        </p:nvSpPr>
        <p:spPr>
          <a:xfrm>
            <a:off x="457200" y="4142232"/>
            <a:ext cx="54864" cy="658368"/>
          </a:xfrm>
          <a:prstGeom prst="rect">
            <a:avLst/>
          </a:prstGeom>
          <a:solidFill>
            <a:srgbClr val="64748B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270248"/>
            <a:ext cx="347472" cy="34747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1143000" y="4187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市场化造血不足</a:t>
            </a:r>
            <a:endParaRPr lang="en-US" sz="1400" dirty="0"/>
          </a:p>
        </p:txBody>
      </p:sp>
      <p:sp>
        <p:nvSpPr>
          <p:cNvPr id="42" name="Text 35"/>
          <p:cNvSpPr/>
          <p:nvPr/>
        </p:nvSpPr>
        <p:spPr>
          <a:xfrm>
            <a:off x="3108960" y="42153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</a:t>
            </a:r>
            <a:endParaRPr lang="en-US" sz="800" dirty="0"/>
          </a:p>
        </p:txBody>
      </p:sp>
      <p:sp>
        <p:nvSpPr>
          <p:cNvPr id="43" name="Shape 36"/>
          <p:cNvSpPr/>
          <p:nvPr/>
        </p:nvSpPr>
        <p:spPr>
          <a:xfrm>
            <a:off x="3108960" y="4233672"/>
            <a:ext cx="640080" cy="1828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4" name="Text 37"/>
          <p:cNvSpPr/>
          <p:nvPr/>
        </p:nvSpPr>
        <p:spPr>
          <a:xfrm>
            <a:off x="1143000" y="44622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AI场景建设以政府投资为主导，企业自主发起的商业化项目占比不到30%。补贴退坡后项目可持续性存疑。</a:t>
            </a:r>
            <a:endParaRPr lang="en-US" sz="950" dirty="0"/>
          </a:p>
        </p:txBody>
      </p:sp>
      <p:sp>
        <p:nvSpPr>
          <p:cNvPr id="45" name="Text 38"/>
          <p:cNvSpPr/>
          <p:nvPr/>
        </p:nvSpPr>
        <p:spPr>
          <a:xfrm>
            <a:off x="6400800" y="42336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核心问题：如何从"政府买单做示范"过渡到"企业自觉投AI"？需要成功案例的财富效应驱动。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743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743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2743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645920" y="2743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2743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194560" y="27432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5486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5486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5486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0" y="5486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371600" y="5486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45920" y="5486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920240" y="5486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194560" y="54864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8229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8229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8229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" y="8229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71600" y="8229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645920" y="8229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20240" y="8229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194560" y="82296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109728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109728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" y="109728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97280" y="109728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71600" y="109728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645920" y="109728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920240" y="109728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194560" y="109728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74320" y="13716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13716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22960" y="13716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97280" y="13716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1371600" y="13716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645920" y="13716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920240" y="13716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2194560" y="13716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 rot="720000">
            <a:off x="6400800" y="-914400"/>
            <a:ext cx="4572000" cy="7315200"/>
          </a:xfrm>
          <a:prstGeom prst="rect">
            <a:avLst/>
          </a:prstGeom>
          <a:solidFill>
            <a:srgbClr val="7C3AED">
              <a:alpha val="3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228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14630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代表性企业画像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640080" y="868680"/>
            <a:ext cx="1828800" cy="27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0" y="8961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传统制造 → AI转型的企业样本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1280160"/>
            <a:ext cx="4114800" cy="214884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48" name="Shape 46"/>
          <p:cNvSpPr/>
          <p:nvPr/>
        </p:nvSpPr>
        <p:spPr>
          <a:xfrm>
            <a:off x="457200" y="1280160"/>
            <a:ext cx="4114800" cy="54864"/>
          </a:xfrm>
          <a:prstGeom prst="rect">
            <a:avLst/>
          </a:prstGeom>
          <a:solidFill>
            <a:srgbClr val="00E5FF"/>
          </a:solidFill>
          <a:ln/>
        </p:spPr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457200" cy="457200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132588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正泰集团</a:t>
            </a:r>
            <a:endParaRPr lang="en-US" sz="1800" dirty="0"/>
          </a:p>
        </p:txBody>
      </p:sp>
      <p:sp>
        <p:nvSpPr>
          <p:cNvPr id="51" name="Text 48"/>
          <p:cNvSpPr/>
          <p:nvPr/>
        </p:nvSpPr>
        <p:spPr>
          <a:xfrm>
            <a:off x="1325880" y="1783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智慧能源龙头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31520" y="210312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温州最大的民营企业，年营收超800亿。从低压电器起家，现打造AI驱动的智慧能源管理平台，在光伏电站运维中应用AI故障预测，将运维效率提升40%。自建工业互联网平台连接10万+设备。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4846320" y="1280160"/>
            <a:ext cx="1874520" cy="214884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54" name="Shape 51"/>
          <p:cNvSpPr/>
          <p:nvPr/>
        </p:nvSpPr>
        <p:spPr>
          <a:xfrm>
            <a:off x="4846320" y="1280160"/>
            <a:ext cx="1874520" cy="4572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5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63040"/>
            <a:ext cx="320040" cy="320040"/>
          </a:xfrm>
          <a:prstGeom prst="rect">
            <a:avLst/>
          </a:prstGeom>
        </p:spPr>
      </p:pic>
      <p:sp>
        <p:nvSpPr>
          <p:cNvPr id="56" name="Text 52"/>
          <p:cNvSpPr/>
          <p:nvPr/>
        </p:nvSpPr>
        <p:spPr>
          <a:xfrm>
            <a:off x="5394960" y="14447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华峰集团</a:t>
            </a:r>
            <a:endParaRPr lang="en-US" sz="1400" dirty="0"/>
          </a:p>
        </p:txBody>
      </p:sp>
      <p:sp>
        <p:nvSpPr>
          <p:cNvPr id="57" name="Text 53"/>
          <p:cNvSpPr/>
          <p:nvPr/>
        </p:nvSpPr>
        <p:spPr>
          <a:xfrm>
            <a:off x="4983480" y="1874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新材料AI智造</a:t>
            </a:r>
            <a:endParaRPr lang="en-US" sz="800" dirty="0"/>
          </a:p>
        </p:txBody>
      </p:sp>
      <p:sp>
        <p:nvSpPr>
          <p:cNvPr id="58" name="Text 54"/>
          <p:cNvSpPr/>
          <p:nvPr/>
        </p:nvSpPr>
        <p:spPr>
          <a:xfrm>
            <a:off x="4983480" y="210312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全球聚氨酯龙头，年营收超300亿。在温州、上海布局AI新材料研发平台，利用机器学习加速材料配方筛选，研发周期从18个月压缩至6个月。</a:t>
            </a:r>
            <a:endParaRPr lang="en-US" sz="900" dirty="0"/>
          </a:p>
        </p:txBody>
      </p:sp>
      <p:sp>
        <p:nvSpPr>
          <p:cNvPr id="59" name="Shape 55"/>
          <p:cNvSpPr/>
          <p:nvPr/>
        </p:nvSpPr>
        <p:spPr>
          <a:xfrm>
            <a:off x="6903720" y="1280160"/>
            <a:ext cx="1874520" cy="214884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60" name="Shape 56"/>
          <p:cNvSpPr/>
          <p:nvPr/>
        </p:nvSpPr>
        <p:spPr>
          <a:xfrm>
            <a:off x="6903720" y="1280160"/>
            <a:ext cx="1874520" cy="4572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6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463040"/>
            <a:ext cx="320040" cy="320040"/>
          </a:xfrm>
          <a:prstGeom prst="rect">
            <a:avLst/>
          </a:prstGeom>
        </p:spPr>
      </p:pic>
      <p:sp>
        <p:nvSpPr>
          <p:cNvPr id="62" name="Text 57"/>
          <p:cNvSpPr/>
          <p:nvPr/>
        </p:nvSpPr>
        <p:spPr>
          <a:xfrm>
            <a:off x="7452360" y="14447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豪联科技</a:t>
            </a:r>
            <a:endParaRPr lang="en-US" sz="1400" dirty="0"/>
          </a:p>
        </p:txBody>
      </p:sp>
      <p:sp>
        <p:nvSpPr>
          <p:cNvPr id="63" name="Text 58"/>
          <p:cNvSpPr/>
          <p:nvPr/>
        </p:nvSpPr>
        <p:spPr>
          <a:xfrm>
            <a:off x="7040880" y="18745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数据安全新锐</a:t>
            </a:r>
            <a:endParaRPr lang="en-US" sz="800" dirty="0"/>
          </a:p>
        </p:txBody>
      </p:sp>
      <p:sp>
        <p:nvSpPr>
          <p:cNvPr id="64" name="Text 59"/>
          <p:cNvSpPr/>
          <p:nvPr/>
        </p:nvSpPr>
        <p:spPr>
          <a:xfrm>
            <a:off x="7040880" y="210312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专注CDM数据备份与安全运营平台。入选浙江省"专精特新"企业，服务客户超500家。在数据要素流通安全领域有核心技术，受益于数安港生态快速成长。</a:t>
            </a:r>
            <a:endParaRPr lang="en-US" sz="900" dirty="0"/>
          </a:p>
        </p:txBody>
      </p:sp>
      <p:sp>
        <p:nvSpPr>
          <p:cNvPr id="65" name="Shape 60"/>
          <p:cNvSpPr/>
          <p:nvPr/>
        </p:nvSpPr>
        <p:spPr>
          <a:xfrm>
            <a:off x="457200" y="3657600"/>
            <a:ext cx="2651760" cy="123444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66" name="Shape 61"/>
          <p:cNvSpPr/>
          <p:nvPr/>
        </p:nvSpPr>
        <p:spPr>
          <a:xfrm>
            <a:off x="457200" y="3657600"/>
            <a:ext cx="45720" cy="12344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94760"/>
            <a:ext cx="292608" cy="292608"/>
          </a:xfrm>
          <a:prstGeom prst="rect">
            <a:avLst/>
          </a:prstGeom>
        </p:spPr>
      </p:pic>
      <p:sp>
        <p:nvSpPr>
          <p:cNvPr id="68" name="Text 62"/>
          <p:cNvSpPr/>
          <p:nvPr/>
        </p:nvSpPr>
        <p:spPr>
          <a:xfrm>
            <a:off x="100584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浙江卡易</a:t>
            </a:r>
            <a:endParaRPr lang="en-US" sz="1300" dirty="0"/>
          </a:p>
        </p:txBody>
      </p:sp>
      <p:sp>
        <p:nvSpPr>
          <p:cNvPr id="69" name="Text 63"/>
          <p:cNvSpPr/>
          <p:nvPr/>
        </p:nvSpPr>
        <p:spPr>
          <a:xfrm>
            <a:off x="1005840" y="4005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医疗AI探索者</a:t>
            </a:r>
            <a:endParaRPr lang="en-US" sz="750" dirty="0"/>
          </a:p>
        </p:txBody>
      </p:sp>
      <p:sp>
        <p:nvSpPr>
          <p:cNvPr id="70" name="Text 64"/>
          <p:cNvSpPr/>
          <p:nvPr/>
        </p:nvSpPr>
        <p:spPr>
          <a:xfrm>
            <a:off x="64008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聚焦医疗影像AI辅助诊断，肺结节检测准确率达96%。产品已进入温州30+基层卫生院，累计辅助诊断超50万例。是"AI下沉基层医疗"的典型样本。</a:t>
            </a:r>
            <a:endParaRPr lang="en-US" sz="900" dirty="0"/>
          </a:p>
        </p:txBody>
      </p:sp>
      <p:sp>
        <p:nvSpPr>
          <p:cNvPr id="71" name="Shape 65"/>
          <p:cNvSpPr/>
          <p:nvPr/>
        </p:nvSpPr>
        <p:spPr>
          <a:xfrm>
            <a:off x="3291840" y="3657600"/>
            <a:ext cx="2651760" cy="123444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72" name="Shape 66"/>
          <p:cNvSpPr/>
          <p:nvPr/>
        </p:nvSpPr>
        <p:spPr>
          <a:xfrm>
            <a:off x="3291840" y="3657600"/>
            <a:ext cx="45720" cy="12344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7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794760"/>
            <a:ext cx="292608" cy="292608"/>
          </a:xfrm>
          <a:prstGeom prst="rect">
            <a:avLst/>
          </a:prstGeom>
        </p:spPr>
      </p:pic>
      <p:sp>
        <p:nvSpPr>
          <p:cNvPr id="74" name="Text 67"/>
          <p:cNvSpPr/>
          <p:nvPr/>
        </p:nvSpPr>
        <p:spPr>
          <a:xfrm>
            <a:off x="384048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康奈集团</a:t>
            </a:r>
            <a:endParaRPr lang="en-US" sz="1300" dirty="0"/>
          </a:p>
        </p:txBody>
      </p:sp>
      <p:sp>
        <p:nvSpPr>
          <p:cNvPr id="75" name="Text 68"/>
          <p:cNvSpPr/>
          <p:nvPr/>
        </p:nvSpPr>
        <p:spPr>
          <a:xfrm>
            <a:off x="3840480" y="4005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鞋业智造标杆</a:t>
            </a:r>
            <a:endParaRPr lang="en-US" sz="750" dirty="0"/>
          </a:p>
        </p:txBody>
      </p:sp>
      <p:sp>
        <p:nvSpPr>
          <p:cNvPr id="76" name="Text 69"/>
          <p:cNvSpPr/>
          <p:nvPr/>
        </p:nvSpPr>
        <p:spPr>
          <a:xfrm>
            <a:off x="347472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温州鞋业三巨头之一，年产量超2000万双。引入AI视觉质检系统，缺陷检出率从人工的92%提升至99.7%。正探索AI驱动的个性化定制鞋履生产线。</a:t>
            </a:r>
            <a:endParaRPr lang="en-US" sz="900" dirty="0"/>
          </a:p>
        </p:txBody>
      </p:sp>
      <p:sp>
        <p:nvSpPr>
          <p:cNvPr id="77" name="Shape 70"/>
          <p:cNvSpPr/>
          <p:nvPr/>
        </p:nvSpPr>
        <p:spPr>
          <a:xfrm>
            <a:off x="6126480" y="3657600"/>
            <a:ext cx="2651760" cy="123444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78" name="Shape 71"/>
          <p:cNvSpPr/>
          <p:nvPr/>
        </p:nvSpPr>
        <p:spPr>
          <a:xfrm>
            <a:off x="6126480" y="3657600"/>
            <a:ext cx="45720" cy="12344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7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794760"/>
            <a:ext cx="292608" cy="292608"/>
          </a:xfrm>
          <a:prstGeom prst="rect">
            <a:avLst/>
          </a:prstGeom>
        </p:spPr>
      </p:pic>
      <p:sp>
        <p:nvSpPr>
          <p:cNvPr id="80" name="Text 72"/>
          <p:cNvSpPr/>
          <p:nvPr/>
        </p:nvSpPr>
        <p:spPr>
          <a:xfrm>
            <a:off x="667512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申瓯通信</a:t>
            </a:r>
            <a:endParaRPr lang="en-US" sz="1300" dirty="0"/>
          </a:p>
        </p:txBody>
      </p:sp>
      <p:sp>
        <p:nvSpPr>
          <p:cNvPr id="81" name="Text 73"/>
          <p:cNvSpPr/>
          <p:nvPr/>
        </p:nvSpPr>
        <p:spPr>
          <a:xfrm>
            <a:off x="6675120" y="4005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通信AI老兵</a:t>
            </a:r>
            <a:endParaRPr lang="en-US" sz="750" dirty="0"/>
          </a:p>
        </p:txBody>
      </p:sp>
      <p:sp>
        <p:nvSpPr>
          <p:cNvPr id="82" name="Text 74"/>
          <p:cNvSpPr/>
          <p:nvPr/>
        </p:nvSpPr>
        <p:spPr>
          <a:xfrm>
            <a:off x="630936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曾服务G20、世界互联网大会的通信设备商。在应急通信智能调度系统领域有20年积淀，正将AI融入下一代指挥调度平台，已获多项发明专利。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8229600" y="0"/>
            <a:ext cx="3657600" cy="7315200"/>
          </a:xfrm>
          <a:prstGeom prst="rect">
            <a:avLst/>
          </a:prstGeom>
          <a:solidFill>
            <a:srgbClr val="00E5FF">
              <a:alpha val="3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4630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就创业前景地图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868680"/>
            <a:ext cx="1828800" cy="27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303520" cy="374904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5303520" cy="5486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就业赛道与薪资对标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岗位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1828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年薪范围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热度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核心技能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103120"/>
            <a:ext cx="4846320" cy="9144"/>
          </a:xfrm>
          <a:prstGeom prst="rect">
            <a:avLst/>
          </a:prstGeom>
          <a:solidFill>
            <a:srgbClr val="1A234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194560"/>
            <a:ext cx="36576" cy="2743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148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AI算法工程师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25-50万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148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0" y="2148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Python/PyTorch/模型训练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2615184"/>
            <a:ext cx="36576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256946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机器视觉工程师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77440" y="256946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20-40万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25694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0" y="25694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OpenCV/缺陷检测/工业相机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3035808"/>
            <a:ext cx="36576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29900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AI产品经理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77440" y="29900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20-45万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29900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0" y="299008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AI能力评估/场景设计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" y="3456432"/>
            <a:ext cx="36576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34107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智能制造工程师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77440" y="34107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15-30万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341071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极高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0" y="34107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PLC/MES/工业互联网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" y="3877056"/>
            <a:ext cx="36576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383133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数据合规官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377440" y="38313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18-35万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83280" y="38313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增长中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0" y="38313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数据法规/隐私计算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1520" y="4297680"/>
            <a:ext cx="36576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" y="4251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AI应用开发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377440" y="42519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18-35万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83280" y="42519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0" y="4251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LangChain/向量数据库/API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35040" y="1188720"/>
            <a:ext cx="2651760" cy="374904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45" name="Shape 43"/>
          <p:cNvSpPr/>
          <p:nvPr/>
        </p:nvSpPr>
        <p:spPr>
          <a:xfrm>
            <a:off x="6035040" y="1188720"/>
            <a:ext cx="265176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371600"/>
            <a:ext cx="320040" cy="320040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667512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创业切入路径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6263640" y="1828800"/>
            <a:ext cx="2194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AI+传统产业SaaS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电气/鞋革/泵阀的AI质检、预测性维护SaaS，单行业市场超10亿。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数据标注与加工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数安港数据要素生态需要大量数据清洗、标注服务商，入门门槛低。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AI+跨境电商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68万华侨网络+AI选品/内容生成/多语言客服，侨乡优势独一无二。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入行建议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AI+行业复合&gt;纯算法。温州房价收入比12（杭州28），同等薪资购买力2.3倍。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4572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01000" y="4572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4572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458200" y="4572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0" y="4572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915400" y="4572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6858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001000" y="6858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0" y="6858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458200" y="6858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6858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915400" y="6858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0" y="9144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001000" y="9144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0" y="9144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458200" y="9144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0" y="9144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915400" y="9144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11430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01000" y="11430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0" y="11430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458200" y="11430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0" y="11430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915400" y="11430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0" y="13716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001000" y="13716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0" y="13716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458200" y="13716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0" y="13716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915400" y="1371600"/>
            <a:ext cx="27432" cy="27432"/>
          </a:xfrm>
          <a:prstGeom prst="oval">
            <a:avLst/>
          </a:prstGeom>
          <a:solidFill>
            <a:srgbClr val="64748B">
              <a:alpha val="3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 rot="1080000">
            <a:off x="-1828800" y="-1828800"/>
            <a:ext cx="5486400" cy="5486400"/>
          </a:xfrm>
          <a:prstGeom prst="rect">
            <a:avLst/>
          </a:prstGeom>
          <a:solidFill>
            <a:srgbClr val="7C3AED">
              <a:alpha val="3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228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1463040" y="274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团队总结与分工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640080" y="868680"/>
            <a:ext cx="1828800" cy="27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1188720"/>
            <a:ext cx="5303520" cy="320040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1188720"/>
            <a:ext cx="5303520" cy="5486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调研核心结论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68680" y="1892808"/>
            <a:ext cx="320040" cy="320040"/>
          </a:xfrm>
          <a:prstGeom prst="oval">
            <a:avLst/>
          </a:prstGeom>
          <a:solidFill>
            <a:srgbClr val="1A2342"/>
          </a:solidFill>
          <a:ln/>
        </p:spPr>
      </p:sp>
      <p:sp>
        <p:nvSpPr>
          <p:cNvPr id="40" name="Text 38"/>
          <p:cNvSpPr/>
          <p:nvPr/>
        </p:nvSpPr>
        <p:spPr>
          <a:xfrm>
            <a:off x="868680" y="18928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32588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战略卡位正确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325880" y="2148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温州选择"AI+制造"而非"AI技术原创"，契合自身产业禀赋。万亿级传统产业改造需求为AI应用提供纵深市场。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68680" y="2514600"/>
            <a:ext cx="320040" cy="320040"/>
          </a:xfrm>
          <a:prstGeom prst="oval">
            <a:avLst/>
          </a:prstGeom>
          <a:solidFill>
            <a:srgbClr val="1A2342"/>
          </a:solidFill>
          <a:ln/>
        </p:spPr>
      </p:sp>
      <p:sp>
        <p:nvSpPr>
          <p:cNvPr id="44" name="Text 42"/>
          <p:cNvSpPr/>
          <p:nvPr/>
        </p:nvSpPr>
        <p:spPr>
          <a:xfrm>
            <a:off x="86868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325880" y="2496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数据要素是独特壁垒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325880" y="277063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6项国家试点"大满贯"的稀缺性不亚于技术专利。数据合规流通能力是AI训练时代的核心竞争力。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68680" y="3136392"/>
            <a:ext cx="320040" cy="320040"/>
          </a:xfrm>
          <a:prstGeom prst="oval">
            <a:avLst/>
          </a:prstGeom>
          <a:solidFill>
            <a:srgbClr val="1A2342"/>
          </a:solidFill>
          <a:ln/>
        </p:spPr>
      </p:sp>
      <p:sp>
        <p:nvSpPr>
          <p:cNvPr id="48" name="Text 46"/>
          <p:cNvSpPr/>
          <p:nvPr/>
        </p:nvSpPr>
        <p:spPr>
          <a:xfrm>
            <a:off x="868680" y="3136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325880" y="3118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人才是最大瓶颈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325880" y="339242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本地年培养不足500人 vs 需求预估3000+。但低成本生活+产业纵深对务实型人才仍有吸引力。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68680" y="3758184"/>
            <a:ext cx="320040" cy="320040"/>
          </a:xfrm>
          <a:prstGeom prst="oval">
            <a:avLst/>
          </a:prstGeom>
          <a:solidFill>
            <a:srgbClr val="1A2342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37581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325880" y="3739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窗口期有限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325880" y="40142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杭州AI产业外溢效应明显，宁波也在加速布局。温州需在2-3年内形成不可替代的产业AI应用壁垒。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989320" y="1188720"/>
            <a:ext cx="2697480" cy="320040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56" name="Shape 54"/>
          <p:cNvSpPr/>
          <p:nvPr/>
        </p:nvSpPr>
        <p:spPr>
          <a:xfrm>
            <a:off x="5989320" y="1188720"/>
            <a:ext cx="2697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7" name="Text 55"/>
          <p:cNvSpPr/>
          <p:nvPr/>
        </p:nvSpPr>
        <p:spPr>
          <a:xfrm>
            <a:off x="6217920" y="1371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成员分工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217920" y="1828800"/>
            <a:ext cx="2240280" cy="548640"/>
          </a:xfrm>
          <a:prstGeom prst="rect">
            <a:avLst/>
          </a:prstGeom>
          <a:solidFill>
            <a:srgbClr val="1A2342">
              <a:alpha val="5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217920" y="1828800"/>
            <a:ext cx="36576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0" name="Text 58"/>
          <p:cNvSpPr/>
          <p:nvPr/>
        </p:nvSpPr>
        <p:spPr>
          <a:xfrm>
            <a:off x="6400800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成员A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315200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资料搜集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数据分析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产业现状调研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217920" y="2468880"/>
            <a:ext cx="2240280" cy="548640"/>
          </a:xfrm>
          <a:prstGeom prst="rect">
            <a:avLst/>
          </a:prstGeom>
          <a:solidFill>
            <a:srgbClr val="1A2342">
              <a:alpha val="5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6217920" y="2468880"/>
            <a:ext cx="36576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4" name="Text 62"/>
          <p:cNvSpPr/>
          <p:nvPr/>
        </p:nvSpPr>
        <p:spPr>
          <a:xfrm>
            <a:off x="6400800" y="2514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成员B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315200" y="2514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企业案例调研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PPT内容撰写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217920" y="3108960"/>
            <a:ext cx="2240280" cy="548640"/>
          </a:xfrm>
          <a:prstGeom prst="rect">
            <a:avLst/>
          </a:prstGeom>
          <a:solidFill>
            <a:srgbClr val="1A2342">
              <a:alpha val="5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6217920" y="3108960"/>
            <a:ext cx="36576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8" name="Text 66"/>
          <p:cNvSpPr/>
          <p:nvPr/>
        </p:nvSpPr>
        <p:spPr>
          <a:xfrm>
            <a:off x="6400800" y="3154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成员C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7315200" y="31546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PPT设计制作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数据可视化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217920" y="3749040"/>
            <a:ext cx="2240280" cy="548640"/>
          </a:xfrm>
          <a:prstGeom prst="rect">
            <a:avLst/>
          </a:prstGeom>
          <a:solidFill>
            <a:srgbClr val="1A2342">
              <a:alpha val="5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6217920" y="3749040"/>
            <a:ext cx="36576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2" name="Text 70"/>
          <p:cNvSpPr/>
          <p:nvPr/>
        </p:nvSpPr>
        <p:spPr>
          <a:xfrm>
            <a:off x="6400800" y="3794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成员D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315200" y="3794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课堂展示主讲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答辩准备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131A33"/>
          </a:solidFill>
          <a:ln/>
        </p:spPr>
      </p:sp>
      <p:sp>
        <p:nvSpPr>
          <p:cNvPr id="75" name="Text 73"/>
          <p:cNvSpPr/>
          <p:nvPr/>
        </p:nvSpPr>
        <p:spPr>
          <a:xfrm>
            <a:off x="731520" y="4617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调研方法：</a:t>
            </a:r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政策文件分析 + 企业年报研读 + 政府公开数据 + 行业研究报告 + 招聘平台薪资数据 + 实地走访温州数安港/智能谷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-1828800" y="-1828800"/>
            <a:ext cx="5486400" cy="5486400"/>
          </a:xfrm>
          <a:prstGeom prst="rect">
            <a:avLst/>
          </a:prstGeom>
          <a:solidFill>
            <a:srgbClr val="00E5FF">
              <a:alpha val="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900000">
            <a:off x="6400800" y="2743200"/>
            <a:ext cx="5486400" cy="5486400"/>
          </a:xfrm>
          <a:prstGeom prst="rect">
            <a:avLst/>
          </a:prstGeom>
          <a:solidFill>
            <a:srgbClr val="7C3AED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45720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45720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45720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45720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286000" y="45720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82296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82296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82296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54480" y="82296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920240" y="82296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0" y="82296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11887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11887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88720" y="11887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554480" y="11887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920240" y="11887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118872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155448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155448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88720" y="155448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554480" y="155448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920240" y="155448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286000" y="155448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192024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192024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88720" y="192024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54480" y="192024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920240" y="192024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286000" y="1920240"/>
            <a:ext cx="27432" cy="27432"/>
          </a:xfrm>
          <a:prstGeom prst="oval">
            <a:avLst/>
          </a:prstGeom>
          <a:solidFill>
            <a:srgbClr val="00E5FF">
              <a:alpha val="3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00800" y="320040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720840" y="320040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040880" y="320040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360920" y="320040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680960" y="320040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001000" y="320040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00800" y="352044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720840" y="352044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040880" y="352044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360920" y="352044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680960" y="352044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01000" y="352044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400800" y="384048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720840" y="384048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0880" y="384048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360920" y="384048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680960" y="384048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01000" y="384048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00800" y="416052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720840" y="416052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040880" y="416052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360920" y="416052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680960" y="416052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001000" y="416052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400800" y="448056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720840" y="448056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040880" y="448056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360920" y="448056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680960" y="448056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001000" y="4480560"/>
            <a:ext cx="27432" cy="27432"/>
          </a:xfrm>
          <a:prstGeom prst="oval">
            <a:avLst/>
          </a:prstGeom>
          <a:solidFill>
            <a:srgbClr val="7C3AED">
              <a:alpha val="3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73152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00E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9600" dirty="0"/>
          </a:p>
        </p:txBody>
      </p:sp>
      <p:sp>
        <p:nvSpPr>
          <p:cNvPr id="65" name="Text 63"/>
          <p:cNvSpPr/>
          <p:nvPr/>
        </p:nvSpPr>
        <p:spPr>
          <a:xfrm>
            <a:off x="1828800" y="91440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万亿之城的下一个命题，</a:t>
            </a:r>
            <a:endParaRPr lang="en-US" sz="2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不是要不要做AI，</a:t>
            </a:r>
            <a:endParaRPr lang="en-US" sz="2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而是以多快的速度</a:t>
            </a:r>
            <a:endParaRPr lang="en-US" sz="2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把AI嵌入每一台机器、</a:t>
            </a:r>
            <a:endParaRPr lang="en-US" sz="2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每一条产线、每一家工厂。</a:t>
            </a:r>
            <a:endParaRPr lang="en-US" sz="2400" dirty="0"/>
          </a:p>
        </p:txBody>
      </p:sp>
      <p:sp>
        <p:nvSpPr>
          <p:cNvPr id="66" name="Shape 64"/>
          <p:cNvSpPr/>
          <p:nvPr/>
        </p:nvSpPr>
        <p:spPr>
          <a:xfrm>
            <a:off x="1828800" y="3108960"/>
            <a:ext cx="2286000" cy="274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7" name="Text 65"/>
          <p:cNvSpPr/>
          <p:nvPr/>
        </p:nvSpPr>
        <p:spPr>
          <a:xfrm>
            <a:off x="1828800" y="3291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——温州AI产业的窗口期不会太长，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但抓住了就是下一个四十年。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 · 欢迎提问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温州人工智能产业调研报告  |  2026年6月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温州人工智能产业调研报告</dc:title>
  <dc:subject>PptxGenJS Presentation</dc:subject>
  <dc:creator>温州产业调研小组</dc:creator>
  <cp:lastModifiedBy>温州产业调研小组</cp:lastModifiedBy>
  <cp:revision>1</cp:revision>
  <dcterms:created xsi:type="dcterms:W3CDTF">2026-06-10T06:31:31Z</dcterms:created>
  <dcterms:modified xsi:type="dcterms:W3CDTF">2026-06-10T06:31:31Z</dcterms:modified>
</cp:coreProperties>
</file>